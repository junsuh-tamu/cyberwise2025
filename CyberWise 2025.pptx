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Fira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0" name="Tahn O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FiraSans-bold.fntdata"/><Relationship Id="rId23" Type="http://schemas.openxmlformats.org/officeDocument/2006/relationships/font" Target="fonts/Fira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FiraSans-boldItalic.fntdata"/><Relationship Id="rId25" Type="http://schemas.openxmlformats.org/officeDocument/2006/relationships/font" Target="fonts/Fira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4-14T01:33:53.376">
    <p:pos x="196" y="725"/>
    <p:text>data on data</p:text>
  </p:cm>
  <p:cm authorId="0" idx="2" dt="2025-04-14T01:29:55.611">
    <p:pos x="196" y="825"/>
    <p:text>Internet Service Provider (i.e. AT&amp;T)</p:text>
  </p:cm>
  <p:cm authorId="0" idx="3" dt="2025-04-14T03:37:29.524">
    <p:pos x="196" y="925"/>
    <p:text>change</p:text>
  </p:cm>
  <p:cm authorId="0" idx="4" dt="2025-04-14T01:33:26.587">
    <p:pos x="196" y="1025"/>
    <p:text>refers to flow of data</p:text>
  </p:cm>
  <p:cm authorId="0" idx="5" dt="2025-04-14T01:36:29.109">
    <p:pos x="196" y="1125"/>
    <p:text>Distributed Denial of Service - when server overflooded with computers (often hijacked)</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4-14T02:07:59.102">
    <p:pos x="196" y="725"/>
    <p:text>Bc we want our dataset to reflect unique traffic patterns and not be redundant/biased</p:text>
  </p:cm>
  <p:cm authorId="0" idx="7" dt="2025-04-14T02:10:33.719">
    <p:pos x="196" y="825"/>
    <p:text>Also encoded non-numerical label column so that it could be used in our randomforest machine learning model</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04-14T03:22:01.334">
    <p:pos x="196" y="725"/>
    <p:text>(Virtual Local Area Network)</p:text>
  </p:cm>
  <p:cm authorId="0" idx="9" dt="2025-04-14T03:22:28.215">
    <p:pos x="196" y="825"/>
    <p:text>low-level software for hardware</p:text>
  </p:cm>
  <p:cm authorId="0" idx="10" dt="2025-04-14T03:22:13.711">
    <p:pos x="196" y="925"/>
    <p:text>Multifactor authentication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e95c99eb4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e95c99eb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e95c99eb4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e95c99eb4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spcBef>
                <a:spcPts val="1000"/>
              </a:spcBef>
              <a:spcAft>
                <a:spcPts val="0"/>
              </a:spcAft>
              <a:buClr>
                <a:schemeClr val="dk1"/>
              </a:buClr>
              <a:buSzPts val="1100"/>
              <a:buFont typeface="Arial"/>
              <a:buNone/>
            </a:pPr>
            <a:r>
              <a:rPr lang="en" sz="1700">
                <a:solidFill>
                  <a:schemeClr val="dk1"/>
                </a:solidFill>
                <a:latin typeface="Roboto"/>
                <a:ea typeface="Roboto"/>
                <a:cs typeface="Roboto"/>
                <a:sym typeface="Roboto"/>
              </a:rPr>
              <a:t>The rapid growth of consumer IoT devices, such as smart thermostats and connected security cameras, has introduced significant vulnerabilities within home networks. These devices often come with insecure default settings, lack routine updates, and operate on minimal firmware, making them prime targets for cyberattacks. A single compromised device can serve as an entry point for large-scale intrusions like Distributed Denial-of-Service (DDoS) attacks, brute force login attempts, or malware propagation, posing risks to privacy, safety, and infrastructure stability.</a:t>
            </a:r>
            <a:endParaRPr sz="1700">
              <a:solidFill>
                <a:schemeClr val="dk1"/>
              </a:solidFill>
              <a:latin typeface="Roboto"/>
              <a:ea typeface="Roboto"/>
              <a:cs typeface="Roboto"/>
              <a:sym typeface="Roboto"/>
            </a:endParaRPr>
          </a:p>
          <a:p>
            <a:pPr indent="457200" lvl="0" marL="0" rtl="0" algn="l">
              <a:spcBef>
                <a:spcPts val="1000"/>
              </a:spcBef>
              <a:spcAft>
                <a:spcPts val="0"/>
              </a:spcAft>
              <a:buClr>
                <a:schemeClr val="dk1"/>
              </a:buClr>
              <a:buSzPts val="1100"/>
              <a:buFont typeface="Arial"/>
              <a:buNone/>
            </a:pPr>
            <a:r>
              <a:rPr lang="en" sz="1700">
                <a:solidFill>
                  <a:schemeClr val="dk1"/>
                </a:solidFill>
                <a:latin typeface="Roboto"/>
                <a:ea typeface="Roboto"/>
                <a:cs typeface="Roboto"/>
                <a:sym typeface="Roboto"/>
              </a:rPr>
              <a:t>This problem is critical at both personal and societal levels. DDoS attacks can disrupt household internet access and strain broader ISP infrastructure when coordinated across thousands of compromised devices. Unauthorized access to cameras or smart locks escalates privacy and safety concerns, while the economic and emotional toll of breaches ranges from service interruptions to data theft and financial fraud.</a:t>
            </a:r>
            <a:endParaRPr sz="1700">
              <a:solidFill>
                <a:schemeClr val="dk1"/>
              </a:solidFill>
              <a:latin typeface="Roboto"/>
              <a:ea typeface="Roboto"/>
              <a:cs typeface="Roboto"/>
              <a:sym typeface="Roboto"/>
            </a:endParaRPr>
          </a:p>
          <a:p>
            <a:pPr indent="457200" lvl="0" marL="0" rtl="0" algn="l">
              <a:spcBef>
                <a:spcPts val="1000"/>
              </a:spcBef>
              <a:spcAft>
                <a:spcPts val="0"/>
              </a:spcAft>
              <a:buClr>
                <a:schemeClr val="dk1"/>
              </a:buClr>
              <a:buSzPts val="1100"/>
              <a:buFont typeface="Arial"/>
              <a:buNone/>
            </a:pPr>
            <a:r>
              <a:rPr lang="en" sz="1700">
                <a:solidFill>
                  <a:schemeClr val="dk1"/>
                </a:solidFill>
                <a:latin typeface="Roboto"/>
                <a:ea typeface="Roboto"/>
                <a:cs typeface="Roboto"/>
                <a:sym typeface="Roboto"/>
              </a:rPr>
              <a:t>A DDoS attack is when many computers (often hijacked) flood a target server or website with too much traffic all at once—overwhelming it so real users can’t access it.</a:t>
            </a:r>
            <a:endParaRPr sz="1700">
              <a:solidFill>
                <a:schemeClr val="dk1"/>
              </a:solidFill>
              <a:latin typeface="Roboto"/>
              <a:ea typeface="Roboto"/>
              <a:cs typeface="Roboto"/>
              <a:sym typeface="Roboto"/>
            </a:endParaRPr>
          </a:p>
          <a:p>
            <a:pPr indent="457200" lvl="0" marL="0" rtl="0" algn="l">
              <a:spcBef>
                <a:spcPts val="1000"/>
              </a:spcBef>
              <a:spcAft>
                <a:spcPts val="1000"/>
              </a:spcAft>
              <a:buClr>
                <a:schemeClr val="dk1"/>
              </a:buClr>
              <a:buSzPts val="1100"/>
              <a:buFont typeface="Arial"/>
              <a:buNone/>
            </a:pPr>
            <a:r>
              <a:t/>
            </a:r>
            <a:endParaRPr sz="1700">
              <a:solidFill>
                <a:schemeClr val="dk1"/>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e95c99eb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e95c99eb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e95c99eb4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e95c99eb4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e95c99eb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e95c99eb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e95c99eb4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e95c99eb4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1" marL="914400" rtl="0" algn="l">
              <a:lnSpc>
                <a:spcPct val="115000"/>
              </a:lnSpc>
              <a:spcBef>
                <a:spcPts val="2100"/>
              </a:spcBef>
              <a:spcAft>
                <a:spcPts val="0"/>
              </a:spcAft>
              <a:buClr>
                <a:schemeClr val="dk1"/>
              </a:buClr>
              <a:buSzPts val="1200"/>
              <a:buFont typeface="Roboto"/>
              <a:buChar char="●"/>
            </a:pPr>
            <a:r>
              <a:rPr lang="en" sz="1200">
                <a:solidFill>
                  <a:schemeClr val="dk1"/>
                </a:solidFill>
                <a:latin typeface="Roboto"/>
                <a:ea typeface="Roboto"/>
                <a:cs typeface="Roboto"/>
                <a:sym typeface="Roboto"/>
              </a:rPr>
              <a:t>It is particularly effective for classification problems, such as malware detection or attack classification, where features may have non-linear relationships.</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RF provides feature importance scores, making it interpretable and useful for identifying key predictors (e.g., </a:t>
            </a:r>
            <a:r>
              <a:rPr lang="en" sz="1050">
                <a:solidFill>
                  <a:srgbClr val="188038"/>
                </a:solidFill>
                <a:latin typeface="Courier New"/>
                <a:ea typeface="Courier New"/>
                <a:cs typeface="Courier New"/>
                <a:sym typeface="Courier New"/>
              </a:rPr>
              <a:t>Rate</a:t>
            </a:r>
            <a:r>
              <a:rPr lang="en" sz="1200">
                <a:solidFill>
                  <a:schemeClr val="dk1"/>
                </a:solidFill>
                <a:latin typeface="Roboto"/>
                <a:ea typeface="Roboto"/>
                <a:cs typeface="Roboto"/>
                <a:sym typeface="Roboto"/>
              </a:rPr>
              <a:t>, </a:t>
            </a:r>
            <a:r>
              <a:rPr lang="en" sz="1050">
                <a:solidFill>
                  <a:srgbClr val="188038"/>
                </a:solidFill>
                <a:latin typeface="Courier New"/>
                <a:ea typeface="Courier New"/>
                <a:cs typeface="Courier New"/>
                <a:sym typeface="Courier New"/>
              </a:rPr>
              <a:t>IAT</a:t>
            </a:r>
            <a:r>
              <a:rPr lang="en" sz="1200">
                <a:solidFill>
                  <a:schemeClr val="dk1"/>
                </a:solidFill>
                <a:latin typeface="Roboto"/>
                <a:ea typeface="Roboto"/>
                <a:cs typeface="Roboto"/>
                <a:sym typeface="Roboto"/>
              </a:rPr>
              <a:t>) in the dataset.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Relevance to Your Project:</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RF was chosen because it handles mixed data types (numerical features like </a:t>
            </a:r>
            <a:r>
              <a:rPr lang="en" sz="1050">
                <a:solidFill>
                  <a:srgbClr val="188038"/>
                </a:solidFill>
                <a:latin typeface="Courier New"/>
                <a:ea typeface="Courier New"/>
                <a:cs typeface="Courier New"/>
                <a:sym typeface="Courier New"/>
              </a:rPr>
              <a:t>Rate</a:t>
            </a:r>
            <a:r>
              <a:rPr lang="en" sz="1200">
                <a:solidFill>
                  <a:schemeClr val="dk1"/>
                </a:solidFill>
                <a:latin typeface="Roboto"/>
                <a:ea typeface="Roboto"/>
                <a:cs typeface="Roboto"/>
                <a:sym typeface="Roboto"/>
              </a:rPr>
              <a:t> and categorical labels like </a:t>
            </a:r>
            <a:r>
              <a:rPr lang="en" sz="1050">
                <a:solidFill>
                  <a:srgbClr val="188038"/>
                </a:solidFill>
                <a:latin typeface="Courier New"/>
                <a:ea typeface="Courier New"/>
                <a:cs typeface="Courier New"/>
                <a:sym typeface="Courier New"/>
              </a:rPr>
              <a:t>DDOS-SYN_FLOOD</a:t>
            </a:r>
            <a:r>
              <a:rPr lang="en" sz="1200">
                <a:solidFill>
                  <a:schemeClr val="dk1"/>
                </a:solidFill>
                <a:latin typeface="Roboto"/>
                <a:ea typeface="Roboto"/>
                <a:cs typeface="Roboto"/>
                <a:sym typeface="Roboto"/>
              </a:rPr>
              <a:t>) and is robust to noisy or imbalanced data (e.g., rare attacks like </a:t>
            </a:r>
            <a:r>
              <a:rPr lang="en" sz="1050">
                <a:solidFill>
                  <a:srgbClr val="188038"/>
                </a:solidFill>
                <a:latin typeface="Courier New"/>
                <a:ea typeface="Courier New"/>
                <a:cs typeface="Courier New"/>
                <a:sym typeface="Courier New"/>
              </a:rPr>
              <a:t>XSS</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b="1" lang="en" sz="1700">
                <a:solidFill>
                  <a:schemeClr val="dk1"/>
                </a:solidFill>
              </a:rPr>
              <a:t>2. Robust against overfitting and handles mixed data types</a:t>
            </a:r>
            <a:endParaRPr b="1" sz="1700">
              <a:solidFill>
                <a:schemeClr val="dk1"/>
              </a:solidFill>
            </a:endParaRPr>
          </a:p>
          <a:p>
            <a:pPr indent="-304800" lvl="0" marL="457200" rtl="0" algn="l">
              <a:lnSpc>
                <a:spcPct val="115000"/>
              </a:lnSpc>
              <a:spcBef>
                <a:spcPts val="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Why is RF robust against overfitting?</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RF reduces overfitting by averaging predictions across multiple decision trees, each trained on a random subset of the data (bagging).</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It also randomly selects a subset of features for each split, preventing any single feature from dominating the model.</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Handling Mixed Data Types:</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RF can process both numerical features (e.g., </a:t>
            </a:r>
            <a:r>
              <a:rPr lang="en" sz="1050">
                <a:solidFill>
                  <a:srgbClr val="188038"/>
                </a:solidFill>
                <a:latin typeface="Courier New"/>
                <a:ea typeface="Courier New"/>
                <a:cs typeface="Courier New"/>
                <a:sym typeface="Courier New"/>
              </a:rPr>
              <a:t>Rate</a:t>
            </a:r>
            <a:r>
              <a:rPr lang="en" sz="1200">
                <a:solidFill>
                  <a:schemeClr val="dk1"/>
                </a:solidFill>
                <a:latin typeface="Roboto"/>
                <a:ea typeface="Roboto"/>
                <a:cs typeface="Roboto"/>
                <a:sym typeface="Roboto"/>
              </a:rPr>
              <a:t>, </a:t>
            </a:r>
            <a:r>
              <a:rPr lang="en" sz="1050">
                <a:solidFill>
                  <a:srgbClr val="188038"/>
                </a:solidFill>
                <a:latin typeface="Courier New"/>
                <a:ea typeface="Courier New"/>
                <a:cs typeface="Courier New"/>
                <a:sym typeface="Courier New"/>
              </a:rPr>
              <a:t>IAT</a:t>
            </a:r>
            <a:r>
              <a:rPr lang="en" sz="1200">
                <a:solidFill>
                  <a:schemeClr val="dk1"/>
                </a:solidFill>
                <a:latin typeface="Roboto"/>
                <a:ea typeface="Roboto"/>
                <a:cs typeface="Roboto"/>
                <a:sym typeface="Roboto"/>
              </a:rPr>
              <a:t>) and categorical ones (e.g., encoded attack labels) without requiring extensive preprocessing.</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This flexibility makes it ideal for datasets like </a:t>
            </a:r>
            <a:r>
              <a:rPr lang="en" sz="1050">
                <a:solidFill>
                  <a:srgbClr val="188038"/>
                </a:solidFill>
                <a:latin typeface="Courier New"/>
                <a:ea typeface="Courier New"/>
                <a:cs typeface="Courier New"/>
                <a:sym typeface="Courier New"/>
              </a:rPr>
              <a:t>StdizedMerged63</a:t>
            </a:r>
            <a:r>
              <a:rPr lang="en" sz="1200">
                <a:solidFill>
                  <a:schemeClr val="dk1"/>
                </a:solidFill>
                <a:latin typeface="Roboto"/>
                <a:ea typeface="Roboto"/>
                <a:cs typeface="Roboto"/>
                <a:sym typeface="Roboto"/>
              </a:rPr>
              <a:t>, which include diverse traffic metrics and attack types.</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b="1" lang="en" sz="1700">
                <a:solidFill>
                  <a:schemeClr val="dk1"/>
                </a:solidFill>
              </a:rPr>
              <a:t>3. Evaluated with precision, recall, and F1-score</a:t>
            </a:r>
            <a:endParaRPr b="1" sz="1700">
              <a:solidFill>
                <a:schemeClr val="dk1"/>
              </a:solidFill>
            </a:endParaRPr>
          </a:p>
          <a:p>
            <a:pPr indent="-304800" lvl="0" marL="457200" rtl="0" algn="l">
              <a:lnSpc>
                <a:spcPct val="115000"/>
              </a:lnSpc>
              <a:spcBef>
                <a:spcPts val="600"/>
              </a:spcBef>
              <a:spcAft>
                <a:spcPts val="0"/>
              </a:spcAft>
              <a:buClr>
                <a:schemeClr val="dk1"/>
              </a:buClr>
              <a:buSzPts val="1200"/>
              <a:buFont typeface="Roboto"/>
              <a:buChar char="●"/>
            </a:pPr>
            <a:r>
              <a:rPr lang="en" sz="1200">
                <a:solidFill>
                  <a:schemeClr val="dk1"/>
                </a:solidFill>
                <a:latin typeface="Roboto"/>
                <a:ea typeface="Roboto"/>
                <a:cs typeface="Roboto"/>
                <a:sym typeface="Roboto"/>
              </a:rPr>
              <a:t>Why These Metrics?</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Precision, recall, and F1-score are critical for evaluating models in imbalanced datasets like yours, where certain attack types (e.g., </a:t>
            </a:r>
            <a:r>
              <a:rPr lang="en" sz="1050">
                <a:solidFill>
                  <a:srgbClr val="188038"/>
                </a:solidFill>
                <a:latin typeface="Courier New"/>
                <a:ea typeface="Courier New"/>
                <a:cs typeface="Courier New"/>
                <a:sym typeface="Courier New"/>
              </a:rPr>
              <a:t>XSS</a:t>
            </a:r>
            <a:r>
              <a:rPr lang="en" sz="1200">
                <a:solidFill>
                  <a:schemeClr val="dk1"/>
                </a:solidFill>
                <a:latin typeface="Roboto"/>
                <a:ea typeface="Roboto"/>
                <a:cs typeface="Roboto"/>
                <a:sym typeface="Roboto"/>
              </a:rPr>
              <a:t>) are rare compared to others (e.g., </a:t>
            </a:r>
            <a:r>
              <a:rPr lang="en" sz="1050">
                <a:solidFill>
                  <a:srgbClr val="188038"/>
                </a:solidFill>
                <a:latin typeface="Courier New"/>
                <a:ea typeface="Courier New"/>
                <a:cs typeface="Courier New"/>
                <a:sym typeface="Courier New"/>
              </a:rPr>
              <a:t>DDOS-ICMP_FLOOD</a:t>
            </a: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304800" lvl="2" marL="13716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Precision: Measures how many predicted positives are actual positives (important for reducing false positives).</a:t>
            </a:r>
            <a:endParaRPr sz="1200">
              <a:solidFill>
                <a:schemeClr val="dk1"/>
              </a:solidFill>
              <a:latin typeface="Roboto"/>
              <a:ea typeface="Roboto"/>
              <a:cs typeface="Roboto"/>
              <a:sym typeface="Roboto"/>
            </a:endParaRPr>
          </a:p>
          <a:p>
            <a:pPr indent="-304800" lvl="2" marL="13716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Recall: Measures how many actual positives are correctly identified (important for detecting all attacks).</a:t>
            </a:r>
            <a:endParaRPr sz="1200">
              <a:solidFill>
                <a:schemeClr val="dk1"/>
              </a:solidFill>
              <a:latin typeface="Roboto"/>
              <a:ea typeface="Roboto"/>
              <a:cs typeface="Roboto"/>
              <a:sym typeface="Roboto"/>
            </a:endParaRPr>
          </a:p>
          <a:p>
            <a:pPr indent="-304800" lvl="2" marL="13716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F1-score: The harmonic mean of precision and recall, balancing both metrics.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DDoS F1-score: 0.82:</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This indicates that the model performs well in detecting DDoS attacks, achieving a good balance between precision and recall.</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Overall Accuracy: ~76%:</a:t>
            </a:r>
            <a:endParaRPr sz="1200">
              <a:solidFill>
                <a:schemeClr val="dk1"/>
              </a:solidFill>
              <a:latin typeface="Roboto"/>
              <a:ea typeface="Roboto"/>
              <a:cs typeface="Roboto"/>
              <a:sym typeface="Roboto"/>
            </a:endParaRPr>
          </a:p>
          <a:p>
            <a:pPr indent="-304800" lvl="1" marL="914400" rtl="0" algn="l">
              <a:lnSpc>
                <a:spcPct val="115000"/>
              </a:lnSpc>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While accuracy measures the proportion of correct predictions overall, it can be misleading in imbalanced datasets. The slightly lower accuracy (~76%) reflects the challenge of detecting rare attack types but is offset by the strong F1-score for critical categories like DDoS.</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Clr>
                <a:schemeClr val="dk1"/>
              </a:buClr>
              <a:buSzPts val="1100"/>
              <a:buFont typeface="Arial"/>
              <a:buNone/>
            </a:pPr>
            <a:r>
              <a:rPr b="1" lang="en" sz="1700">
                <a:solidFill>
                  <a:schemeClr val="dk1"/>
                </a:solidFill>
              </a:rPr>
              <a:t>Summary</a:t>
            </a:r>
            <a:endParaRPr b="1" sz="1700">
              <a:solidFill>
                <a:schemeClr val="dk1"/>
              </a:solidFill>
            </a:endParaRPr>
          </a:p>
          <a:p>
            <a:pPr indent="0" lvl="0" marL="0" rtl="0" algn="l">
              <a:lnSpc>
                <a:spcPct val="115000"/>
              </a:lnSpc>
              <a:spcBef>
                <a:spcPts val="300"/>
              </a:spcBef>
              <a:spcAft>
                <a:spcPts val="0"/>
              </a:spcAft>
              <a:buClr>
                <a:schemeClr val="dk1"/>
              </a:buClr>
              <a:buSzPts val="1100"/>
              <a:buFont typeface="Arial"/>
              <a:buNone/>
            </a:pPr>
            <a:r>
              <a:rPr lang="en" sz="1200">
                <a:solidFill>
                  <a:schemeClr val="dk1"/>
                </a:solidFill>
                <a:latin typeface="Roboto"/>
                <a:ea typeface="Roboto"/>
                <a:cs typeface="Roboto"/>
                <a:sym typeface="Roboto"/>
              </a:rPr>
              <a:t>The Random Forest model was chosen for its ability to handle mixed data types, robustness against overfitting, and interpretability through feature importance. It was evaluated using precision, recall, and F1-score to account for class imbalance in the dataset. The model achieved an overall accuracy of ~76% and an F1-score of 0.82 for DDoS attacks, demonstrating its effectiveness in detecting high-priority threats while maintaining interpretability.</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e95c99eb4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e95c99eb4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e95c99eb4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e95c99eb4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e95c99eb4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e95c99eb4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e95c99eb4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e95c99eb4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e95c99eb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e95c99eb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1"/>
          </a:xfrm>
          <a:prstGeom prst="rect">
            <a:avLst/>
          </a:prstGeom>
          <a:noFill/>
          <a:ln>
            <a:noFill/>
          </a:ln>
        </p:spPr>
      </p:pic>
      <p:sp>
        <p:nvSpPr>
          <p:cNvPr id="55" name="Google Shape;55;p13"/>
          <p:cNvSpPr txBox="1"/>
          <p:nvPr>
            <p:ph type="ctrTitle"/>
          </p:nvPr>
        </p:nvSpPr>
        <p:spPr>
          <a:xfrm>
            <a:off x="0" y="-183425"/>
            <a:ext cx="9144000" cy="1184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800">
                <a:latin typeface="Fira Sans"/>
                <a:ea typeface="Fira Sans"/>
                <a:cs typeface="Fira Sans"/>
                <a:sym typeface="Fira Sans"/>
              </a:rPr>
              <a:t>Home &amp; Consumer IoT Security</a:t>
            </a:r>
            <a:endParaRPr b="1" sz="4800">
              <a:latin typeface="Fira Sans"/>
              <a:ea typeface="Fira Sans"/>
              <a:cs typeface="Fira Sans"/>
              <a:sym typeface="Fira Sans"/>
            </a:endParaRPr>
          </a:p>
        </p:txBody>
      </p:sp>
      <p:sp>
        <p:nvSpPr>
          <p:cNvPr id="56" name="Google Shape;56;p13"/>
          <p:cNvSpPr txBox="1"/>
          <p:nvPr>
            <p:ph idx="1" type="subTitle"/>
          </p:nvPr>
        </p:nvSpPr>
        <p:spPr>
          <a:xfrm>
            <a:off x="311700" y="4101925"/>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2200">
                <a:solidFill>
                  <a:schemeClr val="dk1"/>
                </a:solidFill>
                <a:latin typeface="Fira Sans"/>
                <a:ea typeface="Fira Sans"/>
                <a:cs typeface="Fira Sans"/>
                <a:sym typeface="Fira Sans"/>
              </a:rPr>
              <a:t>LG Grams</a:t>
            </a:r>
            <a:endParaRPr sz="2200">
              <a:solidFill>
                <a:schemeClr val="dk1"/>
              </a:solidFill>
              <a:latin typeface="Fira Sans"/>
              <a:ea typeface="Fira Sans"/>
              <a:cs typeface="Fira Sans"/>
              <a:sym typeface="Fira Sans"/>
            </a:endParaRPr>
          </a:p>
          <a:p>
            <a:pPr indent="0" lvl="0" marL="0" rtl="0" algn="ctr">
              <a:spcBef>
                <a:spcPts val="0"/>
              </a:spcBef>
              <a:spcAft>
                <a:spcPts val="0"/>
              </a:spcAft>
              <a:buClr>
                <a:schemeClr val="dk1"/>
              </a:buClr>
              <a:buSzPts val="1100"/>
              <a:buFont typeface="Arial"/>
              <a:buNone/>
            </a:pPr>
            <a:r>
              <a:rPr lang="en" sz="2200">
                <a:solidFill>
                  <a:schemeClr val="dk1"/>
                </a:solidFill>
                <a:latin typeface="Fira Sans"/>
                <a:ea typeface="Fira Sans"/>
                <a:cs typeface="Fira Sans"/>
                <a:sym typeface="Fira Sans"/>
              </a:rPr>
              <a:t>Tahn Oh Jun Suh</a:t>
            </a:r>
            <a:endParaRPr sz="2200">
              <a:solidFill>
                <a:schemeClr val="dk1"/>
              </a:solidFill>
              <a:latin typeface="Fira Sans"/>
              <a:ea typeface="Fira Sans"/>
              <a:cs typeface="Fira Sans"/>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Fira Sans"/>
                <a:ea typeface="Fira Sans"/>
                <a:cs typeface="Fira Sans"/>
                <a:sym typeface="Fira Sans"/>
              </a:rPr>
              <a:t>Executive Summary </a:t>
            </a:r>
            <a:endParaRPr b="1">
              <a:latin typeface="Fira Sans"/>
              <a:ea typeface="Fira Sans"/>
              <a:cs typeface="Fira Sans"/>
              <a:sym typeface="Fira Sans"/>
            </a:endParaRPr>
          </a:p>
          <a:p>
            <a:pPr indent="0" lvl="0" marL="0" rtl="0" algn="l">
              <a:spcBef>
                <a:spcPts val="0"/>
              </a:spcBef>
              <a:spcAft>
                <a:spcPts val="0"/>
              </a:spcAft>
              <a:buNone/>
            </a:pPr>
            <a:r>
              <a:t/>
            </a:r>
            <a:endParaRPr b="1">
              <a:latin typeface="Fira Sans"/>
              <a:ea typeface="Fira Sans"/>
              <a:cs typeface="Fira Sans"/>
              <a:sym typeface="Fira Sans"/>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b="1" lang="en" sz="1100">
                <a:solidFill>
                  <a:schemeClr val="dk1"/>
                </a:solidFill>
              </a:rPr>
              <a:t>Executive Summary</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Preprocessed and standardized data to highlight attack patterns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TCP-based DDoS attacks (esp. SYN floods) dominate the traffic</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Key predictors: packet rate, inter-arrival time (IAT), protocol type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Estimated $120K/hour loss during peak UDP flood events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Recommended actions:</a:t>
            </a:r>
            <a:br>
              <a:rPr lang="en" sz="1100">
                <a:solidFill>
                  <a:schemeClr val="dk1"/>
                </a:solidFill>
              </a:rPr>
            </a:br>
            <a:r>
              <a:rPr lang="en" sz="1100">
                <a:solidFill>
                  <a:schemeClr val="dk1"/>
                </a:solidFill>
              </a:rPr>
              <a:t> ▫ VLANs for isolation</a:t>
            </a:r>
            <a:br>
              <a:rPr lang="en" sz="1100">
                <a:solidFill>
                  <a:schemeClr val="dk1"/>
                </a:solidFill>
              </a:rPr>
            </a:br>
            <a:r>
              <a:rPr lang="en" sz="1100">
                <a:solidFill>
                  <a:schemeClr val="dk1"/>
                </a:solidFill>
              </a:rPr>
              <a:t> ▫ Strong authentication (MFA)</a:t>
            </a:r>
            <a:br>
              <a:rPr lang="en" sz="1100">
                <a:solidFill>
                  <a:schemeClr val="dk1"/>
                </a:solidFill>
              </a:rPr>
            </a:br>
            <a:r>
              <a:rPr lang="en" sz="1100">
                <a:solidFill>
                  <a:schemeClr val="dk1"/>
                </a:solidFill>
              </a:rPr>
              <a:t> ▫ Firmware auto-updates</a:t>
            </a:r>
            <a:br>
              <a:rPr lang="en" sz="1100">
                <a:solidFill>
                  <a:schemeClr val="dk1"/>
                </a:solidFill>
              </a:rPr>
            </a:br>
            <a:r>
              <a:rPr lang="en" sz="1100">
                <a:solidFill>
                  <a:schemeClr val="dk1"/>
                </a:solidFill>
              </a:rPr>
              <a:t> ▫ Real-time traffic monitoring</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Model shows 70% reduction in attack success with these steps</a:t>
            </a:r>
            <a:endParaRPr sz="1100">
              <a:solidFill>
                <a:schemeClr val="dk1"/>
              </a:solidFill>
            </a:endParaRPr>
          </a:p>
          <a:p>
            <a:pPr indent="0" lvl="0" marL="0" rtl="0" algn="l">
              <a:spcBef>
                <a:spcPts val="1200"/>
              </a:spcBef>
              <a:spcAft>
                <a:spcPts val="1200"/>
              </a:spcAft>
              <a:buNone/>
            </a:pPr>
            <a:r>
              <a:t/>
            </a:r>
            <a:endParaRPr/>
          </a:p>
        </p:txBody>
      </p:sp>
      <p:pic>
        <p:nvPicPr>
          <p:cNvPr id="63" name="Google Shape;63;p14" title="ChatGPT Image Apr 12, 2025, 04_05_01 PM.png"/>
          <p:cNvPicPr preferRelativeResize="0"/>
          <p:nvPr/>
        </p:nvPicPr>
        <p:blipFill>
          <a:blip r:embed="rId3">
            <a:alphaModFix/>
          </a:blip>
          <a:stretch>
            <a:fillRect/>
          </a:stretch>
        </p:blipFill>
        <p:spPr>
          <a:xfrm>
            <a:off x="5837175" y="1129250"/>
            <a:ext cx="2092050" cy="31381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latin typeface="Fira Sans"/>
                <a:ea typeface="Fira Sans"/>
                <a:cs typeface="Fira Sans"/>
                <a:sym typeface="Fira Sans"/>
              </a:rPr>
              <a:t>Problem &amp; Goal</a:t>
            </a:r>
            <a:endParaRPr b="1">
              <a:latin typeface="Fira Sans"/>
              <a:ea typeface="Fira Sans"/>
              <a:cs typeface="Fira Sans"/>
              <a:sym typeface="Fira Sans"/>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1200"/>
              </a:spcBef>
              <a:spcAft>
                <a:spcPts val="0"/>
              </a:spcAft>
              <a:buClr>
                <a:schemeClr val="dk1"/>
              </a:buClr>
              <a:buSzPts val="2000"/>
              <a:buChar char="●"/>
            </a:pPr>
            <a:r>
              <a:rPr lang="en" sz="2000">
                <a:solidFill>
                  <a:schemeClr val="dk1"/>
                </a:solidFill>
              </a:rPr>
              <a:t>Smart devices are often unprotected (default passwords, no updates)</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DDoS</a:t>
            </a:r>
            <a:r>
              <a:rPr lang="en" sz="2000">
                <a:solidFill>
                  <a:schemeClr val="dk1"/>
                </a:solidFill>
              </a:rPr>
              <a:t> attacks affect homes and </a:t>
            </a:r>
            <a:r>
              <a:rPr lang="en" sz="2000">
                <a:solidFill>
                  <a:schemeClr val="dk1"/>
                </a:solidFill>
              </a:rPr>
              <a:t>ISP</a:t>
            </a:r>
            <a:r>
              <a:rPr lang="en" sz="2000">
                <a:solidFill>
                  <a:schemeClr val="dk1"/>
                </a:solidFill>
              </a:rPr>
              <a:t>s</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Goal: Detect malware using </a:t>
            </a:r>
            <a:r>
              <a:rPr lang="en" sz="2000">
                <a:solidFill>
                  <a:schemeClr val="dk1"/>
                </a:solidFill>
              </a:rPr>
              <a:t>traffic-level</a:t>
            </a:r>
            <a:r>
              <a:rPr lang="en" sz="2000">
                <a:solidFill>
                  <a:schemeClr val="dk1"/>
                </a:solidFill>
              </a:rPr>
              <a:t> </a:t>
            </a:r>
            <a:r>
              <a:rPr lang="en" sz="2000">
                <a:solidFill>
                  <a:schemeClr val="dk1"/>
                </a:solidFill>
              </a:rPr>
              <a:t>metadata</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Research Questions:</a:t>
            </a:r>
            <a:endParaRPr sz="2000">
              <a:solidFill>
                <a:schemeClr val="dk1"/>
              </a:solidFill>
            </a:endParaRPr>
          </a:p>
          <a:p>
            <a:pPr indent="-355600" lvl="1" marL="914400" rtl="0" algn="l">
              <a:lnSpc>
                <a:spcPct val="150000"/>
              </a:lnSpc>
              <a:spcBef>
                <a:spcPts val="0"/>
              </a:spcBef>
              <a:spcAft>
                <a:spcPts val="0"/>
              </a:spcAft>
              <a:buClr>
                <a:schemeClr val="dk1"/>
              </a:buClr>
              <a:buSzPts val="2000"/>
              <a:buChar char="○"/>
            </a:pPr>
            <a:r>
              <a:rPr lang="en" sz="2000">
                <a:solidFill>
                  <a:schemeClr val="dk1"/>
                </a:solidFill>
              </a:rPr>
              <a:t>Can we detect attacks using metadata only?</a:t>
            </a:r>
            <a:endParaRPr sz="2000">
              <a:solidFill>
                <a:schemeClr val="dk1"/>
              </a:solidFill>
            </a:endParaRPr>
          </a:p>
          <a:p>
            <a:pPr indent="-355600" lvl="1" marL="914400" rtl="0" algn="l">
              <a:lnSpc>
                <a:spcPct val="150000"/>
              </a:lnSpc>
              <a:spcBef>
                <a:spcPts val="0"/>
              </a:spcBef>
              <a:spcAft>
                <a:spcPts val="0"/>
              </a:spcAft>
              <a:buClr>
                <a:schemeClr val="dk1"/>
              </a:buClr>
              <a:buSzPts val="2000"/>
              <a:buChar char="○"/>
            </a:pPr>
            <a:r>
              <a:rPr lang="en" sz="2000">
                <a:solidFill>
                  <a:schemeClr val="dk1"/>
                </a:solidFill>
              </a:rPr>
              <a:t>Which features are most predictive?</a:t>
            </a:r>
            <a:endParaRPr sz="2000">
              <a:solidFill>
                <a:schemeClr val="dk1"/>
              </a:solidFill>
            </a:endParaRPr>
          </a:p>
          <a:p>
            <a:pPr indent="-355600" lvl="1" marL="914400" rtl="0" algn="l">
              <a:lnSpc>
                <a:spcPct val="150000"/>
              </a:lnSpc>
              <a:spcBef>
                <a:spcPts val="0"/>
              </a:spcBef>
              <a:spcAft>
                <a:spcPts val="0"/>
              </a:spcAft>
              <a:buClr>
                <a:schemeClr val="dk1"/>
              </a:buClr>
              <a:buSzPts val="2000"/>
              <a:buChar char="○"/>
            </a:pPr>
            <a:r>
              <a:rPr lang="en" sz="2000">
                <a:solidFill>
                  <a:schemeClr val="dk1"/>
                </a:solidFill>
              </a:rPr>
              <a:t>Which model works best for low-power devices?</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Project Objectives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1100">
                <a:solidFill>
                  <a:schemeClr val="dk1"/>
                </a:solidFill>
              </a:rPr>
              <a:t>Data Overview </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Used 2023 Cyber Wise dataset (63 IoT logs → 428,161 sessions, 27 features)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Devices: smart cameras, routers, sensors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Key features: protocol flags, traffic rate, IAT, 32 attack labels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Preprocessing: filled missing values, labeled sparse columns, removed irrelevant fields, normalized with Z-scores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Engineered Packet_Rate_Anomaly for DDoS detection</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Applied SMOTE to handle class imbalance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Used correlation analysis to reduce redundant features</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Fira Sans"/>
                <a:ea typeface="Fira Sans"/>
                <a:cs typeface="Fira Sans"/>
                <a:sym typeface="Fira Sans"/>
              </a:rPr>
              <a:t>Data Cleaning and Preprocessing</a:t>
            </a:r>
            <a:endParaRPr b="1">
              <a:latin typeface="Fira Sans"/>
              <a:ea typeface="Fira Sans"/>
              <a:cs typeface="Fira Sans"/>
              <a:sym typeface="Fira Sans"/>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46075" lvl="0" marL="457200" rtl="0" algn="l">
              <a:lnSpc>
                <a:spcPct val="150000"/>
              </a:lnSpc>
              <a:spcBef>
                <a:spcPts val="1200"/>
              </a:spcBef>
              <a:spcAft>
                <a:spcPts val="0"/>
              </a:spcAft>
              <a:buClr>
                <a:schemeClr val="dk1"/>
              </a:buClr>
              <a:buSzPct val="100000"/>
              <a:buChar char="●"/>
            </a:pPr>
            <a:r>
              <a:rPr lang="en" sz="2000">
                <a:solidFill>
                  <a:schemeClr val="dk1"/>
                </a:solidFill>
              </a:rPr>
              <a:t>Missing Values</a:t>
            </a:r>
            <a:endParaRPr sz="2000">
              <a:solidFill>
                <a:schemeClr val="dk1"/>
              </a:solidFill>
            </a:endParaRPr>
          </a:p>
          <a:p>
            <a:pPr indent="-346075" lvl="1" marL="914400" rtl="0" algn="l">
              <a:lnSpc>
                <a:spcPct val="150000"/>
              </a:lnSpc>
              <a:spcBef>
                <a:spcPts val="0"/>
              </a:spcBef>
              <a:spcAft>
                <a:spcPts val="0"/>
              </a:spcAft>
              <a:buClr>
                <a:schemeClr val="dk1"/>
              </a:buClr>
              <a:buSzPct val="100000"/>
              <a:buChar char="○"/>
            </a:pPr>
            <a:r>
              <a:rPr lang="en" sz="2000">
                <a:solidFill>
                  <a:schemeClr val="dk1"/>
                </a:solidFill>
              </a:rPr>
              <a:t>Numerical Columns: Replaced with column medians (e.g., Rate, IAT).</a:t>
            </a:r>
            <a:endParaRPr sz="2000">
              <a:solidFill>
                <a:schemeClr val="dk1"/>
              </a:solidFill>
            </a:endParaRPr>
          </a:p>
          <a:p>
            <a:pPr indent="-346075" lvl="0" marL="457200" rtl="0" algn="l">
              <a:lnSpc>
                <a:spcPct val="150000"/>
              </a:lnSpc>
              <a:spcBef>
                <a:spcPts val="0"/>
              </a:spcBef>
              <a:spcAft>
                <a:spcPts val="0"/>
              </a:spcAft>
              <a:buClr>
                <a:schemeClr val="dk1"/>
              </a:buClr>
              <a:buSzPct val="100000"/>
              <a:buChar char="●"/>
            </a:pPr>
            <a:r>
              <a:rPr lang="en" sz="2000">
                <a:solidFill>
                  <a:schemeClr val="dk1"/>
                </a:solidFill>
              </a:rPr>
              <a:t>Irrelevant Data Removal</a:t>
            </a:r>
            <a:endParaRPr sz="2000">
              <a:solidFill>
                <a:schemeClr val="dk1"/>
              </a:solidFill>
            </a:endParaRPr>
          </a:p>
          <a:p>
            <a:pPr indent="-346075" lvl="1" marL="914400" rtl="0" algn="l">
              <a:lnSpc>
                <a:spcPct val="150000"/>
              </a:lnSpc>
              <a:spcBef>
                <a:spcPts val="0"/>
              </a:spcBef>
              <a:spcAft>
                <a:spcPts val="0"/>
              </a:spcAft>
              <a:buClr>
                <a:schemeClr val="dk1"/>
              </a:buClr>
              <a:buSzPct val="100000"/>
              <a:buChar char="○"/>
            </a:pPr>
            <a:r>
              <a:rPr lang="en" sz="2000">
                <a:solidFill>
                  <a:schemeClr val="dk1"/>
                </a:solidFill>
              </a:rPr>
              <a:t>Dropped duplicate </a:t>
            </a:r>
            <a:r>
              <a:rPr lang="en" sz="2000">
                <a:solidFill>
                  <a:schemeClr val="dk1"/>
                </a:solidFill>
              </a:rPr>
              <a:t>timestamps</a:t>
            </a:r>
            <a:r>
              <a:rPr lang="en" sz="2000">
                <a:solidFill>
                  <a:schemeClr val="dk1"/>
                </a:solidFill>
              </a:rPr>
              <a:t> and non-security columns (e.g., device serial numbers).</a:t>
            </a:r>
            <a:endParaRPr sz="2000">
              <a:solidFill>
                <a:schemeClr val="dk1"/>
              </a:solidFill>
            </a:endParaRPr>
          </a:p>
          <a:p>
            <a:pPr indent="-346075" lvl="0" marL="457200" rtl="0" algn="l">
              <a:lnSpc>
                <a:spcPct val="150000"/>
              </a:lnSpc>
              <a:spcBef>
                <a:spcPts val="0"/>
              </a:spcBef>
              <a:spcAft>
                <a:spcPts val="0"/>
              </a:spcAft>
              <a:buClr>
                <a:schemeClr val="dk1"/>
              </a:buClr>
              <a:buSzPct val="100000"/>
              <a:buChar char="●"/>
            </a:pPr>
            <a:r>
              <a:rPr lang="en" sz="2000">
                <a:solidFill>
                  <a:schemeClr val="dk1"/>
                </a:solidFill>
              </a:rPr>
              <a:t>Standardization:</a:t>
            </a:r>
            <a:endParaRPr sz="2000">
              <a:solidFill>
                <a:schemeClr val="dk1"/>
              </a:solidFill>
            </a:endParaRPr>
          </a:p>
          <a:p>
            <a:pPr indent="-346075" lvl="1" marL="914400" rtl="0" algn="l">
              <a:lnSpc>
                <a:spcPct val="150000"/>
              </a:lnSpc>
              <a:spcBef>
                <a:spcPts val="0"/>
              </a:spcBef>
              <a:spcAft>
                <a:spcPts val="0"/>
              </a:spcAft>
              <a:buClr>
                <a:schemeClr val="dk1"/>
              </a:buClr>
              <a:buSzPct val="100000"/>
              <a:buChar char="○"/>
            </a:pPr>
            <a:r>
              <a:rPr lang="en" sz="2000">
                <a:solidFill>
                  <a:schemeClr val="dk1"/>
                </a:solidFill>
              </a:rPr>
              <a:t>Normalized numerical features (Z-score) to compare traffic metrics across </a:t>
            </a:r>
            <a:r>
              <a:rPr lang="en" sz="2000">
                <a:solidFill>
                  <a:schemeClr val="dk1"/>
                </a:solidFill>
              </a:rPr>
              <a:t>protocols</a:t>
            </a:r>
            <a:r>
              <a:rPr lang="en" sz="2000">
                <a:solidFill>
                  <a:schemeClr val="dk1"/>
                </a:solidFill>
              </a:rPr>
              <a:t>.</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Handling Imbalance</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Dataset was dominated by DDoS attacks (e.g., 163K SYN Flood samples</a:t>
            </a:r>
            <a:r>
              <a:rPr b="1" lang="en">
                <a:solidFill>
                  <a:schemeClr val="dk1"/>
                </a:solidFill>
              </a:rPr>
              <a:t>)</a:t>
            </a:r>
            <a:br>
              <a:rPr b="1" lang="en">
                <a:solidFill>
                  <a:schemeClr val="dk1"/>
                </a:solidFill>
              </a:rPr>
            </a:br>
            <a:endParaRPr b="1">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Used SMOTE to oversample rare attacks like XSS (only 42 samples)</a:t>
            </a:r>
            <a:endParaRPr b="1">
              <a:solidFill>
                <a:schemeClr val="dk1"/>
              </a:solidFill>
            </a:endParaRPr>
          </a:p>
          <a:p>
            <a:pPr indent="0" lvl="0" marL="457200" rtl="0" algn="l">
              <a:spcBef>
                <a:spcPts val="1200"/>
              </a:spcBef>
              <a:spcAft>
                <a:spcPts val="0"/>
              </a:spcAft>
              <a:buNone/>
            </a:pPr>
            <a:r>
              <a:rPr lang="en" sz="1200">
                <a:solidFill>
                  <a:schemeClr val="dk1"/>
                </a:solidFill>
              </a:rPr>
              <a:t>"We used SMOTE, a standard technique to address class imbalance. It helped our model detect rare attacks more effectively without compromising the overall credibility of the dataset or model performance."</a:t>
            </a:r>
            <a:br>
              <a:rPr b="1" lang="en">
                <a:solidFill>
                  <a:schemeClr val="dk1"/>
                </a:solidFill>
              </a:rPr>
            </a:br>
            <a:endParaRPr b="1">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Improved model performance and recall for underrepresented classes</a:t>
            </a:r>
            <a:endParaRPr b="1">
              <a:solidFill>
                <a:schemeClr val="dk1"/>
              </a:solidFill>
            </a:endParaRPr>
          </a:p>
          <a:p>
            <a:pPr indent="0" lvl="0" marL="0" rtl="0" algn="l">
              <a:spcBef>
                <a:spcPts val="1200"/>
              </a:spcBef>
              <a:spcAft>
                <a:spcPts val="120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Modeling Approach</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1200"/>
              </a:spcBef>
              <a:spcAft>
                <a:spcPts val="0"/>
              </a:spcAft>
              <a:buClr>
                <a:schemeClr val="dk1"/>
              </a:buClr>
              <a:buSzPts val="2000"/>
              <a:buChar char="●"/>
            </a:pPr>
            <a:r>
              <a:rPr lang="en" sz="2000">
                <a:solidFill>
                  <a:schemeClr val="dk1"/>
                </a:solidFill>
              </a:rPr>
              <a:t>Choose Random Forest for its accuracy and interpretability</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Robust against overfitting and handles mixed data types</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Evaluated with precision, recall, and F1-score</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DDoS F1-score: 0.82</a:t>
            </a:r>
            <a:endParaRPr sz="2000">
              <a:solidFill>
                <a:schemeClr val="dk1"/>
              </a:solidFill>
            </a:endParaRPr>
          </a:p>
          <a:p>
            <a:pPr indent="-355600" lvl="0" marL="457200" rtl="0" algn="l">
              <a:lnSpc>
                <a:spcPct val="150000"/>
              </a:lnSpc>
              <a:spcBef>
                <a:spcPts val="0"/>
              </a:spcBef>
              <a:spcAft>
                <a:spcPts val="0"/>
              </a:spcAft>
              <a:buClr>
                <a:schemeClr val="dk1"/>
              </a:buClr>
              <a:buSzPts val="2000"/>
              <a:buChar char="●"/>
            </a:pPr>
            <a:r>
              <a:rPr lang="en" sz="2000">
                <a:solidFill>
                  <a:schemeClr val="dk1"/>
                </a:solidFill>
              </a:rPr>
              <a:t>Overall accuracy: ~76%</a:t>
            </a:r>
            <a:endParaRPr sz="2000">
              <a:solidFill>
                <a:schemeClr val="dk1"/>
              </a:solidFill>
            </a:endParaRPr>
          </a:p>
          <a:p>
            <a:pPr indent="0" lvl="0" marL="457200" rtl="0" algn="l">
              <a:lnSpc>
                <a:spcPct val="150000"/>
              </a:lnSpc>
              <a:spcBef>
                <a:spcPts val="1200"/>
              </a:spcBef>
              <a:spcAft>
                <a:spcPts val="1200"/>
              </a:spcAft>
              <a:buNone/>
            </a:pPr>
            <a:r>
              <a:rPr lang="en" sz="1156">
                <a:solidFill>
                  <a:schemeClr val="dk1"/>
                </a:solidFill>
              </a:rPr>
              <a:t>"While the overall accuracy is 76%, the model performs especially well on high-impact classes like DDoS, achieving an F1-score of 0.82. Given the complexity of the traffic and class imbalance, this result is both realistic and deployable."</a:t>
            </a:r>
            <a:endParaRPr sz="1156">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features</a:t>
            </a:r>
            <a:endParaRPr/>
          </a:p>
        </p:txBody>
      </p:sp>
      <p:sp>
        <p:nvSpPr>
          <p:cNvPr id="99" name="Google Shape;99;p20"/>
          <p:cNvSpPr txBox="1"/>
          <p:nvPr>
            <p:ph idx="1" type="body"/>
          </p:nvPr>
        </p:nvSpPr>
        <p:spPr>
          <a:xfrm>
            <a:off x="311700" y="1152475"/>
            <a:ext cx="4079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“We found that high packet rates, short inter-arrival times, and certain protocol types strongly signal DDoS activity. Features like SYN count and ACK count helped capture abnormal connection behavior. Feature importance from our Random Forest model confirmed these were the most predictive.”</a:t>
            </a:r>
            <a:endParaRPr>
              <a:solidFill>
                <a:schemeClr val="dk1"/>
              </a:solidFill>
            </a:endParaRPr>
          </a:p>
        </p:txBody>
      </p:sp>
      <p:pic>
        <p:nvPicPr>
          <p:cNvPr id="100" name="Google Shape;100;p20"/>
          <p:cNvPicPr preferRelativeResize="0"/>
          <p:nvPr/>
        </p:nvPicPr>
        <p:blipFill rotWithShape="1">
          <a:blip r:embed="rId3">
            <a:alphaModFix/>
          </a:blip>
          <a:srcRect b="0" l="0" r="27182" t="0"/>
          <a:stretch/>
        </p:blipFill>
        <p:spPr>
          <a:xfrm>
            <a:off x="4858875" y="1209125"/>
            <a:ext cx="3678750" cy="2428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Attack Frequency</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chemeClr val="dk1"/>
              </a:buClr>
              <a:buSzPts val="1700"/>
              <a:buChar char="●"/>
            </a:pPr>
            <a:r>
              <a:rPr lang="en" sz="1700">
                <a:solidFill>
                  <a:schemeClr val="dk1"/>
                </a:solidFill>
              </a:rPr>
              <a:t>Bar chart shows DDoS-based attacks dominate</a:t>
            </a:r>
            <a:endParaRPr sz="17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SYN Flood: 163,556 cases</a:t>
            </a:r>
            <a:endParaRPr sz="17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 sz="1700">
                <a:solidFill>
                  <a:schemeClr val="dk1"/>
                </a:solidFill>
              </a:rPr>
              <a:t>UDP Flood and ICMP Flood follow</a:t>
            </a:r>
            <a:endParaRPr sz="1700">
              <a:solidFill>
                <a:schemeClr val="dk1"/>
              </a:solidFill>
            </a:endParaRPr>
          </a:p>
          <a:p>
            <a:pPr indent="0" lvl="0" marL="0" rtl="0" algn="l">
              <a:spcBef>
                <a:spcPts val="0"/>
              </a:spcBef>
              <a:spcAft>
                <a:spcPts val="1200"/>
              </a:spcAft>
              <a:buNone/>
            </a:pPr>
            <a:r>
              <a:t/>
            </a:r>
            <a:endParaRPr>
              <a:solidFill>
                <a:schemeClr val="dk1"/>
              </a:solidFill>
            </a:endParaRPr>
          </a:p>
        </p:txBody>
      </p:sp>
      <p:pic>
        <p:nvPicPr>
          <p:cNvPr id="107" name="Google Shape;107;p21"/>
          <p:cNvPicPr preferRelativeResize="0"/>
          <p:nvPr/>
        </p:nvPicPr>
        <p:blipFill>
          <a:blip r:embed="rId3">
            <a:alphaModFix/>
          </a:blip>
          <a:stretch>
            <a:fillRect/>
          </a:stretch>
        </p:blipFill>
        <p:spPr>
          <a:xfrm>
            <a:off x="0" y="75957"/>
            <a:ext cx="9144000" cy="4991593"/>
          </a:xfrm>
          <a:prstGeom prst="rect">
            <a:avLst/>
          </a:prstGeom>
          <a:noFill/>
          <a:ln>
            <a:noFill/>
          </a:ln>
        </p:spPr>
      </p:pic>
      <p:sp>
        <p:nvSpPr>
          <p:cNvPr id="108" name="Google Shape;108;p21"/>
          <p:cNvSpPr/>
          <p:nvPr/>
        </p:nvSpPr>
        <p:spPr>
          <a:xfrm>
            <a:off x="291750" y="3552575"/>
            <a:ext cx="1681800" cy="1493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Prediction Accuracy Plot</a:t>
            </a:r>
            <a:endParaRPr/>
          </a:p>
        </p:txBody>
      </p:sp>
      <p:sp>
        <p:nvSpPr>
          <p:cNvPr id="114" name="Google Shape;114;p22"/>
          <p:cNvSpPr txBox="1"/>
          <p:nvPr>
            <p:ph idx="1" type="body"/>
          </p:nvPr>
        </p:nvSpPr>
        <p:spPr>
          <a:xfrm>
            <a:off x="311700" y="1152475"/>
            <a:ext cx="3513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scatter plot shows strong predictive clustering for dominant attacks like SYN Flood, while rare attacks like XSS had more misclassifications due to limited samples — a known challenge in imbalanced datasets.”</a:t>
            </a:r>
            <a:endParaRPr>
              <a:solidFill>
                <a:schemeClr val="dk1"/>
              </a:solidFill>
            </a:endParaRPr>
          </a:p>
        </p:txBody>
      </p:sp>
      <p:pic>
        <p:nvPicPr>
          <p:cNvPr id="115" name="Google Shape;115;p22"/>
          <p:cNvPicPr preferRelativeResize="0"/>
          <p:nvPr/>
        </p:nvPicPr>
        <p:blipFill>
          <a:blip r:embed="rId3">
            <a:alphaModFix/>
          </a:blip>
          <a:stretch>
            <a:fillRect/>
          </a:stretch>
        </p:blipFill>
        <p:spPr>
          <a:xfrm>
            <a:off x="4019525" y="1582447"/>
            <a:ext cx="4853374" cy="2283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Key Recommendations</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Char char="●"/>
            </a:pPr>
            <a:r>
              <a:rPr lang="en" sz="1700">
                <a:solidFill>
                  <a:schemeClr val="dk1"/>
                </a:solidFill>
              </a:rPr>
              <a:t>For users: Isolate IoT devices on </a:t>
            </a:r>
            <a:r>
              <a:rPr lang="en" sz="1700">
                <a:solidFill>
                  <a:schemeClr val="dk1"/>
                </a:solidFill>
              </a:rPr>
              <a:t>VLANs</a:t>
            </a:r>
            <a:r>
              <a:rPr lang="en" sz="1700">
                <a:solidFill>
                  <a:schemeClr val="dk1"/>
                </a:solidFill>
              </a:rPr>
              <a:t>, use </a:t>
            </a:r>
            <a:r>
              <a:rPr lang="en" sz="1700">
                <a:solidFill>
                  <a:schemeClr val="dk1"/>
                </a:solidFill>
              </a:rPr>
              <a:t>MFA</a:t>
            </a:r>
            <a:r>
              <a:rPr lang="en" sz="1700">
                <a:solidFill>
                  <a:schemeClr val="dk1"/>
                </a:solidFill>
              </a:rPr>
              <a:t>, keep </a:t>
            </a:r>
            <a:r>
              <a:rPr lang="en" sz="1700">
                <a:solidFill>
                  <a:schemeClr val="dk1"/>
                </a:solidFill>
              </a:rPr>
              <a:t>firmware </a:t>
            </a:r>
            <a:r>
              <a:rPr lang="en" sz="1700">
                <a:solidFill>
                  <a:schemeClr val="dk1"/>
                </a:solidFill>
              </a:rPr>
              <a:t>updated</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For manufacturers: Enable secure defaults, enforce update policies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For policymakers: Require IoT security certifications and threat reporting</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&amp; Impact</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00157" lvl="0" marL="457200" rtl="0" algn="l">
              <a:spcBef>
                <a:spcPts val="1200"/>
              </a:spcBef>
              <a:spcAft>
                <a:spcPts val="0"/>
              </a:spcAft>
              <a:buClr>
                <a:schemeClr val="dk1"/>
              </a:buClr>
              <a:buSzPct val="65445"/>
              <a:buChar char="●"/>
            </a:pPr>
            <a:r>
              <a:rPr b="1" lang="en" sz="2025">
                <a:solidFill>
                  <a:schemeClr val="dk1"/>
                </a:solidFill>
              </a:rPr>
              <a:t>Metadata alone (e.g., Rate, IAT, Protocol) can reliably detect IoT malware</a:t>
            </a:r>
            <a:br>
              <a:rPr b="1" lang="en" sz="2025">
                <a:solidFill>
                  <a:schemeClr val="dk1"/>
                </a:solidFill>
              </a:rPr>
            </a:br>
            <a:endParaRPr b="1" sz="2025">
              <a:solidFill>
                <a:schemeClr val="dk1"/>
              </a:solidFill>
            </a:endParaRPr>
          </a:p>
          <a:p>
            <a:pPr indent="-300157" lvl="0" marL="457200" rtl="0" algn="l">
              <a:spcBef>
                <a:spcPts val="0"/>
              </a:spcBef>
              <a:spcAft>
                <a:spcPts val="0"/>
              </a:spcAft>
              <a:buClr>
                <a:schemeClr val="dk1"/>
              </a:buClr>
              <a:buSzPct val="65445"/>
              <a:buChar char="●"/>
            </a:pPr>
            <a:r>
              <a:rPr b="1" lang="en" sz="2025">
                <a:solidFill>
                  <a:schemeClr val="dk1"/>
                </a:solidFill>
              </a:rPr>
              <a:t>Random Forest model achieved 76% accuracy and 0.82 F1-score for DDoS</a:t>
            </a:r>
            <a:br>
              <a:rPr b="1" lang="en" sz="2025">
                <a:solidFill>
                  <a:schemeClr val="dk1"/>
                </a:solidFill>
              </a:rPr>
            </a:br>
            <a:endParaRPr b="1" sz="2025">
              <a:solidFill>
                <a:schemeClr val="dk1"/>
              </a:solidFill>
            </a:endParaRPr>
          </a:p>
          <a:p>
            <a:pPr indent="-300157" lvl="0" marL="457200" rtl="0" algn="l">
              <a:spcBef>
                <a:spcPts val="0"/>
              </a:spcBef>
              <a:spcAft>
                <a:spcPts val="0"/>
              </a:spcAft>
              <a:buClr>
                <a:schemeClr val="dk1"/>
              </a:buClr>
              <a:buSzPct val="65445"/>
              <a:buChar char="●"/>
            </a:pPr>
            <a:r>
              <a:rPr b="1" lang="en" sz="2025">
                <a:solidFill>
                  <a:schemeClr val="dk1"/>
                </a:solidFill>
              </a:rPr>
              <a:t>Lightweight and interpretable — suitable for edge devices</a:t>
            </a:r>
            <a:br>
              <a:rPr b="1" lang="en" sz="2025">
                <a:solidFill>
                  <a:schemeClr val="dk1"/>
                </a:solidFill>
              </a:rPr>
            </a:br>
            <a:endParaRPr b="1" sz="2025">
              <a:solidFill>
                <a:schemeClr val="dk1"/>
              </a:solidFill>
            </a:endParaRPr>
          </a:p>
          <a:p>
            <a:pPr indent="-300157" lvl="0" marL="457200" rtl="0" algn="l">
              <a:spcBef>
                <a:spcPts val="0"/>
              </a:spcBef>
              <a:spcAft>
                <a:spcPts val="0"/>
              </a:spcAft>
              <a:buClr>
                <a:schemeClr val="dk1"/>
              </a:buClr>
              <a:buSzPct val="65445"/>
              <a:buChar char="●"/>
            </a:pPr>
            <a:r>
              <a:rPr b="1" lang="en" sz="2025">
                <a:solidFill>
                  <a:schemeClr val="dk1"/>
                </a:solidFill>
              </a:rPr>
              <a:t>Practical recommendations (VLANs, MFA, firmware updates) can reduce risk by ~70%</a:t>
            </a:r>
            <a:br>
              <a:rPr b="1" lang="en" sz="2025">
                <a:solidFill>
                  <a:schemeClr val="dk1"/>
                </a:solidFill>
              </a:rPr>
            </a:br>
            <a:endParaRPr b="1" sz="2025">
              <a:solidFill>
                <a:schemeClr val="dk1"/>
              </a:solidFill>
            </a:endParaRPr>
          </a:p>
          <a:p>
            <a:pPr indent="-287972" lvl="0" marL="457200" rtl="0" algn="l">
              <a:spcBef>
                <a:spcPts val="0"/>
              </a:spcBef>
              <a:spcAft>
                <a:spcPts val="0"/>
              </a:spcAft>
              <a:buClr>
                <a:srgbClr val="000000"/>
              </a:buClr>
              <a:buSzPct val="54300"/>
              <a:buChar char="●"/>
            </a:pPr>
            <a:r>
              <a:rPr b="1" lang="en" sz="2025">
                <a:solidFill>
                  <a:schemeClr val="dk1"/>
                </a:solidFill>
              </a:rPr>
              <a:t>Supports scalable, privacy-preserving security for consumer networks</a:t>
            </a:r>
            <a:br>
              <a:rPr lang="en"/>
            </a:b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